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8" r:id="rId6"/>
    <p:sldId id="260" r:id="rId7"/>
    <p:sldId id="261" r:id="rId8"/>
    <p:sldId id="262" r:id="rId9"/>
    <p:sldId id="263" r:id="rId10"/>
    <p:sldId id="264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63BBEA-FECF-4D43-AC9B-D538F81B5DD0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E66349-C8FC-4393-9931-6493CA7701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75076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E66349-C8FC-4393-9931-6493CA7701D2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72371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55B35-0310-DEF2-AF4A-83905D89C6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2EF087-FC22-2360-6507-951A569FFC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A51AA2-EF21-B22C-2A48-CEB108B51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8789F-F9DB-4530-8C25-110B0D054CC1}" type="datetime1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D32C99-EA3A-7784-C22C-2FC8E03DD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Private &amp;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8470FB-AD92-7ACF-7187-146073254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13C33-E173-4B61-B09A-57E6CCB9A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47060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BE73A-3E06-5EA6-E5E0-75795B553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033224-42D8-6A8A-B3C9-BD8238C98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3BAC0B-5942-BC04-48EF-8158047DC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E8654-D33C-4DCB-9E51-97BE8221D6F4}" type="datetime1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C2B276-46C2-68BE-71DB-A68AFC955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Private &amp;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FF0D6C-1BC6-F439-9EB8-3A7A82925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13C33-E173-4B61-B09A-57E6CCB9A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4169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144BC-4B50-6C59-75AD-482866EA8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A96AED-FD99-6A43-00C5-BA24EED19D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0E3C4D-5FAD-8B36-2590-EB0F97F15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46A81-BEA3-4E4D-B534-A24D8164FB16}" type="datetime1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1838E-1CFC-DEF3-02B9-E818B04CF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Private &amp;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17C25-2B40-44B7-EBEE-C77BE6F75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13C33-E173-4B61-B09A-57E6CCB9A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1825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3F003-6EDA-AE1E-E5C1-9E8E033D0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AE0034-52A4-D9B2-6E84-D92C74F0ED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A8A701-60C2-F0B8-644D-500C6AA08B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67CB57-5B26-AAFE-004D-87B5B68C7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6FABE-82CC-4207-869A-9FE43B3BD437}" type="datetime1">
              <a:rPr lang="en-IN" smtClean="0"/>
              <a:t>30-01-2026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2D0635-D5D5-1020-50A3-07DD16C25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Private &amp; 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C98959-D528-9802-FFC0-2FF62EC67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13C33-E173-4B61-B09A-57E6CCB9A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1651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A0E80-CFB8-99EE-BD83-DF11D8B19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12EB19-81F7-6632-3D39-CF33E3C87C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3A172B-5CB2-FE75-A0CB-B712C79675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BD31C1-4DC4-F558-43BC-04F3AB149E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CA5D06-E5E8-D5EB-0B26-739E0FA0A1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2E47FC-BEEF-3C2D-F8B7-0D2123AD2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F1235-0950-4FAD-858A-38CB385E7D42}" type="datetime1">
              <a:rPr lang="en-IN" smtClean="0"/>
              <a:t>30-01-2026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295E52-4878-48CC-2EC4-AFC42B9BA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Private &amp; Confidential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354C46-FCAB-C7BA-B14D-9E0EED6DC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13C33-E173-4B61-B09A-57E6CCB9A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6903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76891-4CAF-21C9-AD9A-2B97E9155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3D295F-FF4C-1A1E-6316-5D3FAB368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863E3-7281-408C-9B85-54974F772BFB}" type="datetime1">
              <a:rPr lang="en-IN" smtClean="0"/>
              <a:t>30-01-2026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F58AD2-ED64-A51D-5220-EE6414E96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Private &amp; 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095FAA-B388-7DF8-F18E-BB7B59A10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13C33-E173-4B61-B09A-57E6CCB9A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3665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EB1EB2-4513-64C9-15FB-7CE642741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6E01D-8E84-4FD9-8310-14FDAB3430B3}" type="datetime1">
              <a:rPr lang="en-IN" smtClean="0"/>
              <a:t>30-01-2026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2B8A7D-83C0-ED52-2A14-929DBDAB1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Private &amp; 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B17EF3-E102-071A-C173-06F31ABA1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13C33-E173-4B61-B09A-57E6CCB9A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3419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DEFBB-CEEE-5DD5-9578-9F7B41C02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5B2B7A-3FF4-EA64-1EDE-A7A2811883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1B8353-8F43-3003-342E-1F82C4C126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F27544-A733-A898-57AA-5BA714E2E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ECDF0-E057-4B1B-A251-53AA1CD4F4AC}" type="datetime1">
              <a:rPr lang="en-IN" smtClean="0"/>
              <a:t>30-01-2026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F763D1-9D32-4ADA-3F7D-62E996A6A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Private &amp; 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28E32C-4F31-843C-FF42-544468A0E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13C33-E173-4B61-B09A-57E6CCB9A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8442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FBD70-D363-343F-5887-EC607D55B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9C287C-ED10-D1B8-84A7-9C1D75E598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347507-9C2C-93ED-1284-7320F1BF74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A6B7D4-4F2A-4B7F-0DFE-5B89B9FC0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26048-8DFC-4F0B-B0D2-A7DD9A044575}" type="datetime1">
              <a:rPr lang="en-IN" smtClean="0"/>
              <a:t>30-01-2026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60D49F-4E71-7619-24DA-1C2B23D92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Private &amp; 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09264E-228B-F91D-D064-1754C06DA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13C33-E173-4B61-B09A-57E6CCB9A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6828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02A83-4818-8EA4-37B4-1E234AE85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03133A-26D1-B4A6-75EA-6CB49EFF75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4AD55E-810D-957F-2F0A-946163BA1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3FF21-6505-4C84-96E4-5BB9E49E4D59}" type="datetime1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17DCD-5A6D-A0E5-35E2-AD2715DC2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Private &amp;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848CD4-E9FC-A295-7DC2-3DC78CD4E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13C33-E173-4B61-B09A-57E6CCB9A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668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396E6A-A15B-B014-1AD5-D54C577932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A356AA-E4F1-0E4E-5675-EB3B1C4853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35FA92-A2B6-6719-01ED-73F057928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DB23C-65CE-4DF1-B83A-BF822E2BB1E2}" type="datetime1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C19EDF-3E16-8332-9AC9-B52029EEE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Private &amp;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F69906-2176-91A7-D1A5-11313B196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13C33-E173-4B61-B09A-57E6CCB9A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0268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9C33F7-15F9-9E9C-22F4-FBE43585B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20F52E-82DE-6C27-9E98-A8F6CAB987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CBD45C-FC54-314B-6F74-ECB62A1F7C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42912F-57C5-4A5B-9D5F-FC9CE38D3A67}" type="datetime1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D5FEA4-8049-5CF0-EFAB-85225B9A2B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IN"/>
              <a:t>Private &amp;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2DB796-39CB-5237-CBC5-6E240CB336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613C33-E173-4B61-B09A-57E6CCB9A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1315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93EF181-C08B-5C7E-B2B2-A6A86FB0D2EC}"/>
              </a:ext>
            </a:extLst>
          </p:cNvPr>
          <p:cNvSpPr/>
          <p:nvPr/>
        </p:nvSpPr>
        <p:spPr>
          <a:xfrm>
            <a:off x="0" y="0"/>
            <a:ext cx="12192000" cy="43891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AI Video Violence Detection System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34A85524-6BC8-8164-5AAD-D01FEC21EE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203704"/>
            <a:ext cx="12192000" cy="280720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700" dirty="0"/>
              <a:t>AI Video Violence Detection with GenAI Explanations</a:t>
            </a:r>
          </a:p>
          <a:p>
            <a:pPr>
              <a:lnSpc>
                <a:spcPct val="150000"/>
              </a:lnSpc>
            </a:pPr>
            <a:r>
              <a:rPr lang="en-US" sz="2700" dirty="0"/>
              <a:t>Date: January 29, 2026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7E858F5-6B07-0157-8E66-06FD8D1B7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939BA-5729-4EFC-8D80-E7A944AEDDFE}" type="datetime1">
              <a:rPr lang="en-IN" smtClean="0"/>
              <a:t>30-01-2026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E26A1F0-6FE3-8575-43AF-A96A1CA0A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Private &amp; Confidential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CF81950-7AA9-0590-F7E6-C56316622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13C33-E173-4B61-B09A-57E6CCB9A758}" type="slidenum">
              <a:rPr lang="en-IN" smtClean="0"/>
              <a:t>1</a:t>
            </a:fld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4E0F5B-AEE5-567A-2A2D-F6BB3FD783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5469" y="4085775"/>
            <a:ext cx="1800000" cy="1800000"/>
          </a:xfrm>
          <a:prstGeom prst="ellipse">
            <a:avLst/>
          </a:prstGeom>
          <a:ln w="25400" cap="rnd">
            <a:solidFill>
              <a:srgbClr val="7030A0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52DD3FA-5EAC-2266-C059-612A0BF53EF1}"/>
              </a:ext>
            </a:extLst>
          </p:cNvPr>
          <p:cNvPicPr>
            <a:picLocks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214" y="4085775"/>
            <a:ext cx="1800000" cy="1800000"/>
          </a:xfrm>
          <a:prstGeom prst="ellipse">
            <a:avLst/>
          </a:prstGeom>
          <a:ln w="25400" cap="rnd">
            <a:solidFill>
              <a:srgbClr val="7030A0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55005BA-46A9-A27E-1BB3-6645C0C11F35}"/>
              </a:ext>
            </a:extLst>
          </p:cNvPr>
          <p:cNvPicPr>
            <a:picLocks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9724" y="4085775"/>
            <a:ext cx="1800000" cy="1800000"/>
          </a:xfrm>
          <a:prstGeom prst="ellipse">
            <a:avLst/>
          </a:prstGeom>
          <a:ln w="25400" cap="rnd">
            <a:solidFill>
              <a:srgbClr val="7030A0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578980A-B92D-BB39-EA04-F2CE46A7B922}"/>
              </a:ext>
            </a:extLst>
          </p:cNvPr>
          <p:cNvPicPr>
            <a:picLocks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3980" y="4085775"/>
            <a:ext cx="1800000" cy="1800000"/>
          </a:xfrm>
          <a:prstGeom prst="ellipse">
            <a:avLst/>
          </a:prstGeom>
          <a:ln w="25400" cap="rnd">
            <a:solidFill>
              <a:srgbClr val="7030A0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9D4EBAB-C47F-F547-8F8E-D1889316CDAA}"/>
              </a:ext>
            </a:extLst>
          </p:cNvPr>
          <p:cNvSpPr txBox="1"/>
          <p:nvPr/>
        </p:nvSpPr>
        <p:spPr>
          <a:xfrm>
            <a:off x="3890769" y="6007608"/>
            <a:ext cx="10894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Chaitrika</a:t>
            </a:r>
          </a:p>
        </p:txBody>
      </p:sp>
    </p:spTree>
    <p:extLst>
      <p:ext uri="{BB962C8B-B14F-4D97-AF65-F5344CB8AC3E}">
        <p14:creationId xmlns:p14="http://schemas.microsoft.com/office/powerpoint/2010/main" val="40298270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204E2-06F5-78B7-E1C3-B46926EA7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6379190-42E9-626C-1CFF-289EA1906D85}"/>
              </a:ext>
            </a:extLst>
          </p:cNvPr>
          <p:cNvSpPr/>
          <p:nvPr/>
        </p:nvSpPr>
        <p:spPr>
          <a:xfrm>
            <a:off x="0" y="0"/>
            <a:ext cx="12192000" cy="43891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Agenda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EB9841-5147-8003-706F-30A712463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0C6C2-2084-48DA-870E-F6A56E1E1B89}" type="datetime1">
              <a:rPr lang="en-IN" smtClean="0"/>
              <a:t>30-01-2026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D469CC-CB97-0D9A-EFBD-5BD0EC546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Private &amp; 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31614F-7921-BAC0-DEAA-7AA5B402A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13C33-E173-4B61-B09A-57E6CCB9A758}" type="slidenum">
              <a:rPr lang="en-IN" smtClean="0"/>
              <a:t>2</a:t>
            </a:fld>
            <a:endParaRPr lang="en-IN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5F843E4-E9F9-EA24-88C2-093F74E01B72}"/>
              </a:ext>
            </a:extLst>
          </p:cNvPr>
          <p:cNvSpPr txBox="1">
            <a:spLocks/>
          </p:cNvSpPr>
          <p:nvPr/>
        </p:nvSpPr>
        <p:spPr>
          <a:xfrm>
            <a:off x="0" y="1600200"/>
            <a:ext cx="121920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dirty="0"/>
              <a:t>Problem Statement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dirty="0"/>
              <a:t>Proposed Solution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dirty="0"/>
              <a:t>Key Features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dirty="0"/>
              <a:t>Technology Stack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dirty="0"/>
              <a:t>System Architecture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dirty="0">
                <a:latin typeface="Calibri"/>
              </a:rPr>
              <a:t>ML Pipeline &amp; Video Processing Workflow</a:t>
            </a:r>
            <a:endParaRPr lang="en-US" dirty="0"/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dirty="0">
                <a:latin typeface="Calibri"/>
              </a:rPr>
              <a:t>GenAI Integration for Incident Explanations</a:t>
            </a:r>
            <a:endParaRPr lang="en-US" dirty="0"/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dirty="0"/>
              <a:t>Conclusion &amp; Future Scope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4301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7247D-DF80-93AC-5D54-C53C6C040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7DCDA5E-6531-258D-2AC8-405E3E124D17}"/>
              </a:ext>
            </a:extLst>
          </p:cNvPr>
          <p:cNvSpPr/>
          <p:nvPr/>
        </p:nvSpPr>
        <p:spPr>
          <a:xfrm>
            <a:off x="0" y="0"/>
            <a:ext cx="12192000" cy="43891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Problem Statement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AF9185-579A-71A5-6E0C-567987B44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40526-B13C-439A-9391-99AE71BAF217}" type="datetime1">
              <a:rPr lang="en-IN" smtClean="0"/>
              <a:t>30-01-2026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ED7CB3-BF14-136C-6F0C-71BE70C54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Private &amp; 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14B151-5F98-4F10-82A8-7982F8AD5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13C33-E173-4B61-B09A-57E6CCB9A758}" type="slidenum">
              <a:rPr lang="en-IN" smtClean="0"/>
              <a:t>3</a:t>
            </a:fld>
            <a:endParaRPr lang="en-IN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F659D9D-F095-7BCA-7050-E0B0CD663E8F}"/>
              </a:ext>
            </a:extLst>
          </p:cNvPr>
          <p:cNvSpPr txBox="1">
            <a:spLocks/>
          </p:cNvSpPr>
          <p:nvPr/>
        </p:nvSpPr>
        <p:spPr>
          <a:xfrm>
            <a:off x="0" y="1600200"/>
            <a:ext cx="121920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/>
              <a:t>Human operators cannot continuously monitor multiple video feeds, leading to delayed incident detection.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/>
              <a:t>Security personnel face overwhelming volumes of surveillance footage, making it difficult to identify critical events.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/>
              <a:t>Traditional "Black Box" detection systems provide alerts without context, reducing trust and actionable insights.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/>
              <a:t>Many existing systems require expensive GPU infrastructure and real-time streaming, limiting accessibility.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/>
              <a:t>Most academic projects lack production-ready architecture suitable for deployment in resource-constrained environments.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292652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8C1B4-FB7B-4FAD-8971-EF1D04646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05B2140-073B-9514-522A-42B1977F3359}"/>
              </a:ext>
            </a:extLst>
          </p:cNvPr>
          <p:cNvSpPr/>
          <p:nvPr/>
        </p:nvSpPr>
        <p:spPr>
          <a:xfrm>
            <a:off x="0" y="0"/>
            <a:ext cx="12192000" cy="43891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Proposed Solution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933225-2EA9-432D-725B-A3177A1D1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40526-B13C-439A-9391-99AE71BAF217}" type="datetime1">
              <a:rPr lang="en-IN" smtClean="0"/>
              <a:t>30-01-2026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2F4A63-C61F-1BC0-51E2-E91BC4BA4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Private &amp; 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3BB83-D16B-0C32-FD09-ECA9DB0CB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13C33-E173-4B61-B09A-57E6CCB9A758}" type="slidenum">
              <a:rPr lang="en-IN" smtClean="0"/>
              <a:t>4</a:t>
            </a:fld>
            <a:endParaRPr lang="en-IN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40869CF-97FA-860E-9D5E-8773B1C4D4A5}"/>
              </a:ext>
            </a:extLst>
          </p:cNvPr>
          <p:cNvSpPr txBox="1">
            <a:spLocks/>
          </p:cNvSpPr>
          <p:nvPr/>
        </p:nvSpPr>
        <p:spPr>
          <a:xfrm>
            <a:off x="0" y="1600200"/>
            <a:ext cx="121920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100" dirty="0"/>
              <a:t>CNN + LSTM architecture for analyzing spatial features (frames) and temporal patterns (motion sequences).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100" dirty="0"/>
              <a:t>Pre-trained model inference without local training, making it CPU-friendly for student machines.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100" dirty="0"/>
              <a:t>Generates human-readable incident reports from detection results for security personnel.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100" dirty="0"/>
              <a:t>Professional 5-layer architecture with React.js frontend, Flask backend, and PostgreSQL database.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100" dirty="0"/>
              <a:t>JWT authentication with User and Admin dashboards for controlled access.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100" dirty="0"/>
              <a:t>Processes short pre-recorded video clips (30-60 seconds) without requiring real-time streaming infrastructure.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620392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CED67-75B4-89AA-BD6E-2BB75FF97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CA69786-25D3-7E93-9FD3-44F9905298D1}"/>
              </a:ext>
            </a:extLst>
          </p:cNvPr>
          <p:cNvSpPr/>
          <p:nvPr/>
        </p:nvSpPr>
        <p:spPr>
          <a:xfrm>
            <a:off x="0" y="0"/>
            <a:ext cx="12192000" cy="43891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How This Differs from Existing Solutions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BE8455-08AD-CDF6-156B-68E59BE17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40526-B13C-439A-9391-99AE71BAF217}" type="datetime1">
              <a:rPr lang="en-IN" smtClean="0"/>
              <a:t>30-01-2026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6CDBC8-713E-E670-0017-28C53A8A8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Private &amp; 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7804CC-1354-D3E2-F088-2C6885248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13C33-E173-4B61-B09A-57E6CCB9A758}" type="slidenum">
              <a:rPr lang="en-IN" smtClean="0"/>
              <a:t>5</a:t>
            </a:fld>
            <a:endParaRPr lang="en-IN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7B589DB-AA90-98E5-04E6-9B23FCA5D249}"/>
              </a:ext>
            </a:extLst>
          </p:cNvPr>
          <p:cNvSpPr txBox="1">
            <a:spLocks/>
          </p:cNvSpPr>
          <p:nvPr/>
        </p:nvSpPr>
        <p:spPr>
          <a:xfrm>
            <a:off x="0" y="1600200"/>
            <a:ext cx="121920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IN" sz="2000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C494AEB-A53F-07D4-AA79-A15E41F5C204}"/>
              </a:ext>
            </a:extLst>
          </p:cNvPr>
          <p:cNvSpPr txBox="1">
            <a:spLocks/>
          </p:cNvSpPr>
          <p:nvPr/>
        </p:nvSpPr>
        <p:spPr>
          <a:xfrm>
            <a:off x="-3048" y="1752600"/>
            <a:ext cx="121920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endParaRPr lang="en-IN" sz="2000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6DAA1477-7A53-305D-9839-5040E7513CA4}"/>
              </a:ext>
            </a:extLst>
          </p:cNvPr>
          <p:cNvSpPr txBox="1">
            <a:spLocks/>
          </p:cNvSpPr>
          <p:nvPr/>
        </p:nvSpPr>
        <p:spPr>
          <a:xfrm>
            <a:off x="-3048" y="1752600"/>
            <a:ext cx="121920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IN" sz="1400" dirty="0"/>
              <a:t>Key Differentiators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89A864A0-6C44-A7BB-5879-67F74F9B0C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1927424"/>
              </p:ext>
            </p:extLst>
          </p:nvPr>
        </p:nvGraphicFramePr>
        <p:xfrm>
          <a:off x="93472" y="2155274"/>
          <a:ext cx="11446257" cy="22250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3289808">
                  <a:extLst>
                    <a:ext uri="{9D8B030D-6E8A-4147-A177-3AD203B41FA5}">
                      <a16:colId xmlns:a16="http://schemas.microsoft.com/office/drawing/2014/main" val="2455674341"/>
                    </a:ext>
                  </a:extLst>
                </a:gridCol>
                <a:gridCol w="4341030">
                  <a:extLst>
                    <a:ext uri="{9D8B030D-6E8A-4147-A177-3AD203B41FA5}">
                      <a16:colId xmlns:a16="http://schemas.microsoft.com/office/drawing/2014/main" val="1696277302"/>
                    </a:ext>
                  </a:extLst>
                </a:gridCol>
                <a:gridCol w="3815419">
                  <a:extLst>
                    <a:ext uri="{9D8B030D-6E8A-4147-A177-3AD203B41FA5}">
                      <a16:colId xmlns:a16="http://schemas.microsoft.com/office/drawing/2014/main" val="35644830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kern="1200" dirty="0">
                          <a:solidFill>
                            <a:sysClr val="windowText" lastClr="000000"/>
                          </a:solidFill>
                          <a:effectLst/>
                        </a:rPr>
                        <a:t>Aspect</a:t>
                      </a:r>
                      <a:endParaRPr lang="en-IN" sz="1200" b="1" kern="1200" dirty="0">
                        <a:solidFill>
                          <a:sysClr val="windowText" lastClr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kern="1200" dirty="0">
                          <a:solidFill>
                            <a:sysClr val="windowText" lastClr="000000"/>
                          </a:solidFill>
                          <a:effectLst/>
                        </a:rPr>
                        <a:t>Existing Solutions</a:t>
                      </a:r>
                      <a:endParaRPr lang="en-IN" sz="1200" b="1" kern="1200" dirty="0">
                        <a:solidFill>
                          <a:sysClr val="windowText" lastClr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kern="1200" dirty="0">
                          <a:solidFill>
                            <a:sysClr val="windowText" lastClr="000000"/>
                          </a:solidFill>
                          <a:effectLst/>
                        </a:rPr>
                        <a:t>This Project</a:t>
                      </a:r>
                      <a:endParaRPr lang="en-IN" sz="1200" b="1" kern="1200" dirty="0">
                        <a:solidFill>
                          <a:sysClr val="windowText" lastClr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80868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kern="1200" dirty="0">
                          <a:solidFill>
                            <a:schemeClr val="tx1"/>
                          </a:solidFill>
                          <a:effectLst/>
                        </a:rPr>
                        <a:t>Architecture</a:t>
                      </a:r>
                      <a:endParaRPr lang="en-IN" sz="12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kern="1200" dirty="0">
                          <a:solidFill>
                            <a:schemeClr val="tx1"/>
                          </a:solidFill>
                          <a:effectLst/>
                        </a:rPr>
                        <a:t>Black box ML scripts</a:t>
                      </a:r>
                      <a:endParaRPr lang="en-IN" sz="12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kern="1200" dirty="0">
                          <a:solidFill>
                            <a:schemeClr val="tx1"/>
                          </a:solidFill>
                          <a:effectLst/>
                        </a:rPr>
                        <a:t>N-Tier enterprise architecture</a:t>
                      </a:r>
                      <a:endParaRPr lang="en-IN" sz="12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6091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chemeClr val="tx1"/>
                          </a:solidFill>
                          <a:effectLst/>
                        </a:rPr>
                        <a:t>Explainability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</a:rPr>
                        <a:t>Binary alerts only</a:t>
                      </a:r>
                      <a:endParaRPr lang="en-US" sz="12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</a:rPr>
                        <a:t>GenAI incident explanations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65797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kern="1200" dirty="0">
                          <a:solidFill>
                            <a:schemeClr val="tx1"/>
                          </a:solidFill>
                          <a:effectLst/>
                        </a:rPr>
                        <a:t>Hardware</a:t>
                      </a:r>
                      <a:endParaRPr lang="en-IN" sz="12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b="0" kern="1200" dirty="0">
                          <a:solidFill>
                            <a:schemeClr val="tx1"/>
                          </a:solidFill>
                          <a:effectLst/>
                        </a:rPr>
                        <a:t>GPU-dependent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b="0" kern="1200" dirty="0">
                          <a:solidFill>
                            <a:schemeClr val="tx1"/>
                          </a:solidFill>
                          <a:effectLst/>
                        </a:rPr>
                        <a:t>CPU-optimized inference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3267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chemeClr val="tx1"/>
                          </a:solidFill>
                          <a:effectLst/>
                        </a:rPr>
                        <a:t>Security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</a:rPr>
                        <a:t>Basic or none</a:t>
                      </a:r>
                      <a:endParaRPr lang="en-US" sz="12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</a:rPr>
                        <a:t>JWT + RBAC + audit logging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31451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chemeClr val="tx1"/>
                          </a:solidFill>
                          <a:effectLst/>
                        </a:rPr>
                        <a:t>Processing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</a:rPr>
                        <a:t>Real-time streaming</a:t>
                      </a:r>
                      <a:endParaRPr lang="en-US" sz="12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</a:rPr>
                        <a:t>Offline short video analysis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09544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3D7CAEFA-4465-FC95-2849-427353B22BDC}"/>
              </a:ext>
            </a:extLst>
          </p:cNvPr>
          <p:cNvSpPr txBox="1"/>
          <p:nvPr/>
        </p:nvSpPr>
        <p:spPr>
          <a:xfrm>
            <a:off x="93473" y="4459214"/>
            <a:ext cx="11446256" cy="1907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200" b="1" dirty="0"/>
              <a:t>Unique Innovations:</a:t>
            </a:r>
          </a:p>
          <a:p>
            <a:pPr>
              <a:lnSpc>
                <a:spcPct val="150000"/>
              </a:lnSpc>
              <a:buNone/>
            </a:pPr>
            <a:r>
              <a:rPr lang="en-US" sz="1200" dirty="0"/>
              <a:t>1. Hybrid Deep Learning + GenAI: Combines CNN-LSTM (85% accuracy) with GenAI for human-readable incident reports.</a:t>
            </a:r>
          </a:p>
          <a:p>
            <a:pPr>
              <a:lnSpc>
                <a:spcPct val="150000"/>
              </a:lnSpc>
              <a:buNone/>
            </a:pPr>
            <a:r>
              <a:rPr lang="en-US" sz="1200" dirty="0"/>
              <a:t>2. CPU-Optimized Design: Inference-only execution with pre-trained models, no expensive GPU required.</a:t>
            </a:r>
          </a:p>
          <a:p>
            <a:pPr>
              <a:lnSpc>
                <a:spcPct val="150000"/>
              </a:lnSpc>
              <a:buNone/>
            </a:pPr>
            <a:r>
              <a:rPr lang="en-US" sz="1200" dirty="0"/>
              <a:t>3. Enterprise N-Tier Architecture: Professional 5-layer design suitable for both academic evaluation and real-world deployment.</a:t>
            </a:r>
          </a:p>
          <a:p>
            <a:pPr>
              <a:lnSpc>
                <a:spcPct val="150000"/>
              </a:lnSpc>
              <a:buNone/>
            </a:pPr>
            <a:r>
              <a:rPr lang="en-US" sz="1200" dirty="0"/>
              <a:t>4. Explainable AI: Security personnel receive actionable context: *"Incident at 00:15-00:23. Aggressive contact detected. 87% confidence."*</a:t>
            </a:r>
          </a:p>
          <a:p>
            <a:pPr>
              <a:lnSpc>
                <a:spcPct val="150000"/>
              </a:lnSpc>
              <a:buNone/>
            </a:pPr>
            <a:r>
              <a:rPr lang="en-US" sz="1200" dirty="0"/>
              <a:t>5. Production-Ready Security: JWT authentication, role-based access, complete audit trail for institutional deployment.</a:t>
            </a:r>
          </a:p>
          <a:p>
            <a:pPr>
              <a:lnSpc>
                <a:spcPct val="150000"/>
              </a:lnSpc>
              <a:buNone/>
            </a:pPr>
            <a:r>
              <a:rPr lang="en-US" sz="1200" dirty="0"/>
              <a:t>6. Academic + Practical Balance: Defendable technical decisions with real-world utility.</a:t>
            </a:r>
          </a:p>
        </p:txBody>
      </p:sp>
    </p:spTree>
    <p:extLst>
      <p:ext uri="{BB962C8B-B14F-4D97-AF65-F5344CB8AC3E}">
        <p14:creationId xmlns:p14="http://schemas.microsoft.com/office/powerpoint/2010/main" val="27022751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29C77-9666-E509-1179-C0C55B342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26EA52A-E3C9-D7FA-47D7-FD870E64C62B}"/>
              </a:ext>
            </a:extLst>
          </p:cNvPr>
          <p:cNvSpPr/>
          <p:nvPr/>
        </p:nvSpPr>
        <p:spPr>
          <a:xfrm>
            <a:off x="0" y="0"/>
            <a:ext cx="12192000" cy="43891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Key Features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605DE2-DF61-221B-E218-5C85070AD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40526-B13C-439A-9391-99AE71BAF217}" type="datetime1">
              <a:rPr lang="en-IN" smtClean="0"/>
              <a:t>30-01-2026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C4A7FD-D19C-7634-8A26-BD0A364F6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Private &amp; 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D627EF-730E-F979-A757-366EEE855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13C33-E173-4B61-B09A-57E6CCB9A758}" type="slidenum">
              <a:rPr lang="en-IN" smtClean="0"/>
              <a:t>6</a:t>
            </a:fld>
            <a:endParaRPr lang="en-IN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3410847-01B8-E8BE-3B6E-045D920D362C}"/>
              </a:ext>
            </a:extLst>
          </p:cNvPr>
          <p:cNvSpPr txBox="1">
            <a:spLocks/>
          </p:cNvSpPr>
          <p:nvPr/>
        </p:nvSpPr>
        <p:spPr>
          <a:xfrm>
            <a:off x="0" y="1600200"/>
            <a:ext cx="121920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/>
              <a:t>Violence Detection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/>
              <a:t>Confidence Scoring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/>
              <a:t>GenAI Incident Reports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/>
              <a:t>User &amp; Admin Dashboards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/>
              <a:t>Video Processing Pipeline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/>
              <a:t>Audit Trail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/>
              <a:t>CPU-Optimized</a:t>
            </a:r>
          </a:p>
        </p:txBody>
      </p:sp>
    </p:spTree>
    <p:extLst>
      <p:ext uri="{BB962C8B-B14F-4D97-AF65-F5344CB8AC3E}">
        <p14:creationId xmlns:p14="http://schemas.microsoft.com/office/powerpoint/2010/main" val="2440994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30BC9-2264-2E26-D8E2-EBEF43FF1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A70F3E3-3E6E-7AC9-E0AF-CE5451E84118}"/>
              </a:ext>
            </a:extLst>
          </p:cNvPr>
          <p:cNvSpPr/>
          <p:nvPr/>
        </p:nvSpPr>
        <p:spPr>
          <a:xfrm>
            <a:off x="0" y="0"/>
            <a:ext cx="12192000" cy="43891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Technology Stack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619D57-8CBB-742A-EEDC-52149D1FD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40526-B13C-439A-9391-99AE71BAF217}" type="datetime1">
              <a:rPr lang="en-IN" smtClean="0"/>
              <a:t>30-01-2026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A6EEBF-350E-CBF2-7FEF-CC4B42126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Private &amp; 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1A3A9B-3E2B-33BC-3534-534583535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13C33-E173-4B61-B09A-57E6CCB9A758}" type="slidenum">
              <a:rPr lang="en-IN" smtClean="0"/>
              <a:t>7</a:t>
            </a:fld>
            <a:endParaRPr lang="en-IN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4FE852E-7B98-C93E-2BD6-ECEFFE41655A}"/>
              </a:ext>
            </a:extLst>
          </p:cNvPr>
          <p:cNvSpPr txBox="1">
            <a:spLocks/>
          </p:cNvSpPr>
          <p:nvPr/>
        </p:nvSpPr>
        <p:spPr>
          <a:xfrm>
            <a:off x="0" y="1600200"/>
            <a:ext cx="121920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dirty="0"/>
              <a:t>Frontend: React.js, TypeScript, Redux Toolkit, Tailwind CSS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dirty="0"/>
              <a:t>Backend/API: Python 3.9+, Flask, Flask-JWT-Extended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dirty="0"/>
              <a:t>Deep Learning: TensorFlow/</a:t>
            </a:r>
            <a:r>
              <a:rPr lang="en-IN" dirty="0" err="1"/>
              <a:t>Keras</a:t>
            </a:r>
            <a:r>
              <a:rPr lang="en-IN" dirty="0"/>
              <a:t> (CNN + LSTM), OpenCV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dirty="0"/>
              <a:t>Generative AI: Google Gemini API / OpenAI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dirty="0"/>
              <a:t>Database: PostgreSQL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dirty="0"/>
              <a:t>Architecture: N-Tier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dirty="0"/>
              <a:t>Security: JWT, RBAC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dirty="0"/>
              <a:t>DevOps: Docker/</a:t>
            </a:r>
            <a:r>
              <a:rPr lang="en-IN" dirty="0" err="1"/>
              <a:t>Podman</a:t>
            </a:r>
            <a:r>
              <a:rPr lang="en-IN" dirty="0"/>
              <a:t>, GitHub Actions</a:t>
            </a:r>
          </a:p>
        </p:txBody>
      </p:sp>
    </p:spTree>
    <p:extLst>
      <p:ext uri="{BB962C8B-B14F-4D97-AF65-F5344CB8AC3E}">
        <p14:creationId xmlns:p14="http://schemas.microsoft.com/office/powerpoint/2010/main" val="12300356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8D206-C6B6-3755-F49E-E3679B4A7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444E7DA-6024-3BD2-B27F-5FBA3C07E3B6}"/>
              </a:ext>
            </a:extLst>
          </p:cNvPr>
          <p:cNvSpPr/>
          <p:nvPr/>
        </p:nvSpPr>
        <p:spPr>
          <a:xfrm>
            <a:off x="0" y="0"/>
            <a:ext cx="12192000" cy="43891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System Architecture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9EA59E-4044-83AE-DEBE-E00DD76D0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40526-B13C-439A-9391-99AE71BAF217}" type="datetime1">
              <a:rPr lang="en-IN" smtClean="0"/>
              <a:t>30-01-2026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12A433-749D-B020-A136-434AE955A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Private &amp; 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063DA1-E6E9-C840-4063-0CCF43E50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13C33-E173-4B61-B09A-57E6CCB9A758}" type="slidenum">
              <a:rPr lang="en-IN" smtClean="0"/>
              <a:t>8</a:t>
            </a:fld>
            <a:endParaRPr lang="en-IN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D5F033E-DDEC-6FC9-3404-F2867F80FE81}"/>
              </a:ext>
            </a:extLst>
          </p:cNvPr>
          <p:cNvSpPr txBox="1">
            <a:spLocks/>
          </p:cNvSpPr>
          <p:nvPr/>
        </p:nvSpPr>
        <p:spPr>
          <a:xfrm>
            <a:off x="8912352" y="530352"/>
            <a:ext cx="3090672" cy="5825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1600" b="1" dirty="0"/>
              <a:t>N-Tier Enterprise Architecture</a:t>
            </a:r>
            <a:endParaRPr lang="en-IN" b="1" dirty="0"/>
          </a:p>
          <a:p>
            <a:pPr algn="l">
              <a:lnSpc>
                <a:spcPct val="150000"/>
              </a:lnSpc>
            </a:pPr>
            <a:r>
              <a:rPr lang="en-IN" sz="1600" dirty="0"/>
              <a:t>1. Presentation Layer (React dashboards)</a:t>
            </a:r>
          </a:p>
          <a:p>
            <a:pPr algn="l">
              <a:lnSpc>
                <a:spcPct val="150000"/>
              </a:lnSpc>
            </a:pPr>
            <a:r>
              <a:rPr lang="en-IN" sz="1600" dirty="0"/>
              <a:t>2. Application Layer (Flask APIs)</a:t>
            </a:r>
          </a:p>
          <a:p>
            <a:pPr algn="l">
              <a:lnSpc>
                <a:spcPct val="150000"/>
              </a:lnSpc>
            </a:pPr>
            <a:r>
              <a:rPr lang="en-IN" sz="1600" dirty="0"/>
              <a:t>3. ML Processing Layer (preprocessing, CNN+LSTM inference)</a:t>
            </a:r>
          </a:p>
          <a:p>
            <a:pPr algn="l">
              <a:lnSpc>
                <a:spcPct val="150000"/>
              </a:lnSpc>
            </a:pPr>
            <a:r>
              <a:rPr lang="en-IN" sz="1600" dirty="0"/>
              <a:t>4. GenAI Service Layer (explanation generation)</a:t>
            </a:r>
          </a:p>
          <a:p>
            <a:pPr algn="l">
              <a:lnSpc>
                <a:spcPct val="150000"/>
              </a:lnSpc>
            </a:pPr>
            <a:r>
              <a:rPr lang="en-IN" sz="1600" dirty="0"/>
              <a:t>5. Data Layer (PostgreSQL)</a:t>
            </a:r>
          </a:p>
          <a:p>
            <a:pPr algn="l">
              <a:lnSpc>
                <a:spcPct val="150000"/>
              </a:lnSpc>
            </a:pPr>
            <a:endParaRPr lang="en-IN" sz="16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CF9BC3D-B1EB-BC0F-9601-15A8EB13CF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256" y="563570"/>
            <a:ext cx="8438400" cy="57744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5685495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AF453-EDFD-CCAF-B824-68381609C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51C47BB-F833-0C88-EBEB-5113C699C177}"/>
              </a:ext>
            </a:extLst>
          </p:cNvPr>
          <p:cNvSpPr/>
          <p:nvPr/>
        </p:nvSpPr>
        <p:spPr>
          <a:xfrm>
            <a:off x="0" y="0"/>
            <a:ext cx="12192000" cy="43891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ML Pipeline &amp; Workflow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392E45-F622-5DC1-27C1-C287839BA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40526-B13C-439A-9391-99AE71BAF217}" type="datetime1">
              <a:rPr lang="en-IN" smtClean="0"/>
              <a:t>30-01-2026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C565CA-76E4-5D5D-13E1-34EB0E4C7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Private &amp; 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B6BAB5-05F3-6AD7-0930-CF66B045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13C33-E173-4B61-B09A-57E6CCB9A758}" type="slidenum">
              <a:rPr lang="en-IN" smtClean="0"/>
              <a:t>9</a:t>
            </a:fld>
            <a:endParaRPr lang="en-IN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B88CD66-1491-6AB4-BD17-B9604CA53711}"/>
              </a:ext>
            </a:extLst>
          </p:cNvPr>
          <p:cNvSpPr txBox="1">
            <a:spLocks/>
          </p:cNvSpPr>
          <p:nvPr/>
        </p:nvSpPr>
        <p:spPr>
          <a:xfrm>
            <a:off x="0" y="1600200"/>
            <a:ext cx="121920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/>
              <a:t>Video Upload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/>
              <a:t>Preprocessing (frame extraction, resize to 224x224, normalization)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/>
              <a:t>Sequence Generation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/>
              <a:t>CNN Feature Extraction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/>
              <a:t>LSTM Temporal Analysis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/>
              <a:t>Violence Classification (probability score)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/>
              <a:t>GenAI Explanation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/>
              <a:t>Storage &amp; Audit</a:t>
            </a:r>
          </a:p>
        </p:txBody>
      </p:sp>
    </p:spTree>
    <p:extLst>
      <p:ext uri="{BB962C8B-B14F-4D97-AF65-F5344CB8AC3E}">
        <p14:creationId xmlns:p14="http://schemas.microsoft.com/office/powerpoint/2010/main" val="41109631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A3A96-DF10-CD63-52ED-46D98BBDA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6B1B34A-1853-0742-7462-F187FFA1DEE5}"/>
              </a:ext>
            </a:extLst>
          </p:cNvPr>
          <p:cNvSpPr/>
          <p:nvPr/>
        </p:nvSpPr>
        <p:spPr>
          <a:xfrm>
            <a:off x="0" y="0"/>
            <a:ext cx="12192000" cy="43891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Explainable AI Integration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D76BF2-F5AC-ED9B-4D0F-31F0A1F2C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40526-B13C-439A-9391-99AE71BAF217}" type="datetime1">
              <a:rPr lang="en-IN" smtClean="0"/>
              <a:t>30-01-2026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5F2079-7110-08CD-62D2-181FECB98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Private &amp; 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DBB245-E953-C5D5-2D01-AEAFBBFFB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13C33-E173-4B61-B09A-57E6CCB9A758}" type="slidenum">
              <a:rPr lang="en-IN" smtClean="0"/>
              <a:t>10</a:t>
            </a:fld>
            <a:endParaRPr lang="en-IN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198424D-2440-30D4-8F33-FBD620A9F664}"/>
              </a:ext>
            </a:extLst>
          </p:cNvPr>
          <p:cNvSpPr txBox="1">
            <a:spLocks/>
          </p:cNvSpPr>
          <p:nvPr/>
        </p:nvSpPr>
        <p:spPr>
          <a:xfrm>
            <a:off x="0" y="1600200"/>
            <a:ext cx="121920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/>
              <a:t>Why GenAI Explanations Matter (trust, actionability, compliance)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/>
              <a:t>Input to GenAI (detection result, confidence, timestamps, frame summary)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/>
              <a:t>Output: 'Incident detected between 00:15-00:23... 87% confidence'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/>
              <a:t>Design: GenAI uses detection metadata only, not raw video</a:t>
            </a:r>
          </a:p>
        </p:txBody>
      </p:sp>
    </p:spTree>
    <p:extLst>
      <p:ext uri="{BB962C8B-B14F-4D97-AF65-F5344CB8AC3E}">
        <p14:creationId xmlns:p14="http://schemas.microsoft.com/office/powerpoint/2010/main" val="182987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BD6FB4-0B29-429C-6C58-509897862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6E01D-8E84-4FD9-8310-14FDAB3430B3}" type="datetime1">
              <a:rPr lang="en-IN" smtClean="0"/>
              <a:t>30-01-2026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F27495-8466-AEA2-3511-8E8BDF34F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Private &amp; 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FE9FBF-7A5D-7DF7-A563-F76340AA0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13C33-E173-4B61-B09A-57E6CCB9A758}" type="slidenum">
              <a:rPr lang="en-IN" smtClean="0"/>
              <a:t>11</a:t>
            </a:fld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3BB70ED-91AE-29A6-9DF1-1C861F8F10C6}"/>
              </a:ext>
            </a:extLst>
          </p:cNvPr>
          <p:cNvSpPr/>
          <p:nvPr/>
        </p:nvSpPr>
        <p:spPr>
          <a:xfrm>
            <a:off x="0" y="0"/>
            <a:ext cx="12192000" cy="43891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Conclusion &amp; Future Scope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C4D35C-74CF-9CF3-CE76-C918A1363B04}"/>
              </a:ext>
            </a:extLst>
          </p:cNvPr>
          <p:cNvSpPr txBox="1"/>
          <p:nvPr/>
        </p:nvSpPr>
        <p:spPr>
          <a:xfrm>
            <a:off x="0" y="2390478"/>
            <a:ext cx="9173718" cy="2817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/>
              <a:t>Hybrid CNN+LSTM + GenAI approach summary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/>
              <a:t>Academic and practical contributions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/>
              <a:t>Future: Real-time processing (RTSP/HLS)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/>
              <a:t>Multi-class detection, Edge deployment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/>
              <a:t>Active learning, Dashboard analytics, Multi-camera support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0518052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</TotalTime>
  <Words>688</Words>
  <Application>Microsoft Office PowerPoint</Application>
  <PresentationFormat>Widescreen</PresentationFormat>
  <Paragraphs>131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Hema Vignesh Ramakrishna</dc:creator>
  <cp:lastModifiedBy>Hema Vignesh Ramakrishna</cp:lastModifiedBy>
  <cp:revision>47</cp:revision>
  <dcterms:created xsi:type="dcterms:W3CDTF">2026-01-29T08:17:13Z</dcterms:created>
  <dcterms:modified xsi:type="dcterms:W3CDTF">2026-01-30T04:27:01Z</dcterms:modified>
</cp:coreProperties>
</file>